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точность, %</c:v>
                </c:pt>
              </c:strCache>
            </c:strRef>
          </c:tx>
          <c:spPr>
            <a:solidFill>
              <a:srgbClr val="B8AB84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1" i="0" strike="noStrike" sz="1450" u="none">
                    <a:solidFill>
                      <a:srgbClr val="1C1C22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без масштаба</c:v>
                  </c:pt>
                  <c:pt idx="1">
                    <c:v>min-max</c:v>
                  </c:pt>
                  <c:pt idx="2">
                    <c:v>стандартизация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92</c:v>
                </c:pt>
                <c:pt idx="2">
                  <c:v>94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1" i="0" strike="noStrike" sz="1450" u="none">
                  <a:solidFill>
                    <a:srgbClr val="1C1C22"/>
                  </a:solidFill>
                  <a:latin typeface="Cambr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6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E6E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точность, %</c:v>
                </c:pt>
              </c:strCache>
            </c:strRef>
          </c:tx>
          <c:spPr>
            <a:solidFill>
              <a:srgbClr val="1C1C22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1" i="0" strike="noStrike" sz="1450" u="none">
                    <a:solidFill>
                      <a:srgbClr val="1C1C22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только пропуски</c:v>
                  </c:pt>
                  <c:pt idx="1">
                    <c:v>весь конвейер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92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1" i="0" strike="noStrike" sz="1450" u="none">
                  <a:solidFill>
                    <a:srgbClr val="1C1C22"/>
                  </a:solidFill>
                  <a:latin typeface="Cambr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6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E6E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тема, без которой не работает ни одна модель, – подготовка данных. kNN, логистическая регрессия, деревья – все они учатся на таблице, которую мы им даем. Если таблица грязная, модель честно выучит грязь. К концу занятия каждый должен знать порядок подготовки данных и быть готовым написать его сам на чистом Python в практической работе.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История на 3–4 минуты. Расскажите ее без слайда, потом покажите цитату. В 1990-х исследователи обучали модель предсказывать риск смерти пациентов с пневмонией, чтобы решать, кого лечить дома, а кого в больнице. Модель вывела правило: астма снижает риск. Откуда? В данных астматики действительно умирали реже – потому что врачи всегда сразу отправляли их в реанимацию. Модель не ошиблась в расчетах, она выучила данные, а не медицину. Спросите класс: кто виноват – модель или данные? Подведите к мысли: модель знает о мире только то, что есть в таблице. Источник: Caruana и др., 2015, эту историю пересказывает статья на Хабре «Подготовка датасета для машинного обучения».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Эту цифру приводят и Яндекс Практикум, и Хабр: до 80 % времени в проекте машинного обучения уходит на подготовку данных. Обучение модели – одна строка кода, а подготовка – недели. Английская поговорка garbage in – garbage out знакома всем программистам. Покажите конвейер снизу: сегодня мы в темной клетке – между сбором данных и обучением.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часть – какие бывают проблемы в данных и откуда они берутся. Сначала учимся замечать, потом – исправлять.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анкета 11 учеников – та же выборка, что в теме про деревья решений, но такой, какой она пришла «из жизни». Дайте классу 2–3 минуты найти все проблемы, не подсказывая. Потом откройте легенду справа. Пропуски: ученик 3 не указал часы, ученик 6 – балл, ученик 8 – сон. Дубликат: строка 11 полностью совпадает со строкой 2 – анкету отправили дважды. Разнобой: «физмат», «Физмат», «ф/м» – для человека одно и то же, для компьютера три разные строки. Выброс: 50 часов сна – скорее всего, лишний ноль. Масштаб: сон меняется от 6 до 9, а пробник – от 35 до 90. Эти же данные – в первой ячейке ноутбука.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Грязь в данных почти никогда не злой умысел. Человек опечатался или поленился заполнить поле. Датчик на секунду потерял связь – и в таблице пустая ячейка. Две базы объединили, а в одной пишут «п. Заозерный», в другой «поселок Заозерный». Данные устарели: человек переехал, а адрес остался старым. Главный вывод – перед обучением данные надо осмотреть: сколько пропусков, какие значения встречаются, нет ли странных чисел. Это задание П1.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план всего занятия и всей практической работы. Первые четыре шага – чистка: осматриваем, убираем дубликаты и опечатки, ищем выбросы, заполняем пропуски. Почему выбросы раньше пропусков? Потому что выброс мы превратим в пропуск и заполним вместе с остальными. И если заполнять средним до удаления выбросов, выброс испортит и само среднее. Последние три шага – подготовка к модели. Обратите внимание на порядок шагов 6 и 7: сначала делим, потом масштабируем. Почему – разберем на слайде про утечку.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часть – чистим нашу анкету шаг за шагом. Все числа на слайдах совпадают с ячейками «ожидается» в ноутбуке.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Дубликат – это не безобидный повтор. Если ученик попал в таблицу дважды, модель считает его двумя учениками, его «голос» весит вдвое больше. В ноутбуке функция remove_duplicates: идем по строкам и добавляем строку, только если ее еще нет в результате. Из 11 строк остается 10. Разнобой чистим в три шага: strip убирает пробелы по краям, lower переводит в нижний регистр, словарь синонимов заменяет сокращения. Спросите: сколько «разных профилей» увидела бы модель без чистки? Девять вместо трех.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Посчитайте среднее на доске вместе с классом: сумма 108, значений 9, среднее 12. Средний ученик спит 12 часов? Конечно нет – одно число 50 утянуло среднее вверх. Медиана – середина отсортированного списка: пятое значение из девяти, это 8. Выброс почти не сдвигает медиану, поэтому пропуски в числах заполняют чаще медианой. Для четного количества значений медиана – полусумма двух средних. Мода – самое частое значение. Для профиля класса среднее не посчитать вообще – «среднее между физматом и химбио» не имеет смысла, поэтому для категорий используют моду.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Медиана делит отсортированный список пополам. Квартили делят его на четыре части: левее Q1 лежит четверть значений, левее Q3 – три четверти. Формула для компьютера: позиция равна (n − 1)·q. Для 9 значений Q1 стоит на позиции 2, медиана – на позиции 4, Q3 – на позиции 6. Если позиция дробная, берем значение между соседями пропорционально дробной части – так же считает numpy. Межквартильный размах IQR – ширина середины, где лежит половина всех значений. Все, что дальше чем 1,5·IQR от квартилей, считаем выбросом.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ключевой слайд – посчитайте его полностью на доске, лучше руками учеников. Шаг 1: Q1 = 6, Q3 = 8. Шаг 2: IQR = 8 − 6 = 2. Шаг 3: полтора размаха – это 3, значит норма от 6 − 3 = 3 до 8 + 3 = 11 часов. Шаг 4: 50 больше 11 – выброс. Мы не удаляем строку ученика целиком – его часы и балл еще пригодятся, а заменяем 50 на пропуск. Такой график называется «ящик с усами»: ящик – от Q1 до Q3, усы – границы нормы. Спросите: всегда ли выброс – ошибка? Нет, рост баскетболиста в классе – настоящий выброс. Поэтому решение принимает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стратегии – и у каждой своя цена. Удалить строку можно, когда пропусков мало, а строк много. Удалить столбец – когда пропущена большая часть значений. Чаще всего пропуски заполняют: числа – медианой, категории – модой или отдельным значением «неизвестно». Важная мысль из статьи Яндекс Практикума: сначала поймите, почему значение пропало. В объявлениях о продаже машин графу «были ли аварии» часто не заполняют, когда аварий не было, – значит, пропуск разумно заполнить «нет». В нашей анкете: сон 50 превратили в пропуск и вместе с настоящим пропуском заполнили медианой 7,5.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Третья часть – данные уже чистые, но модель их еще не понимает. Нужно превратить текст в числа, разделить выборку и выровнять масштабы.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Простой способ – пронумеровать категории по алфавиту. Но тогда модель, которая считает расстояния или складывает признаки с весами, решит, что химбио «больше» физмата, а физмат находится ровно посередине между гуманитариями и химбио. Такого порядка в жизни нет. One-hot кодирование делает для каждой категории свой столбец из нулей и единиц. Все профили оказываются на одинаковом расстоянии друг от друга. Минус: у признака «город» может быть 500 значений – получится 500 столбцов. Нумерация честна только для категорий с настоящим порядком: «низкий», «средний», «высокий».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Посчитайте расстояния на доске. Без масштаба: от А до Б – корень из 7² + 2², около 7,3; от А до В – ровно 10. Значит, Б ближе. Но ведь А и Б готовились совсем по-разному: 2 и 9 часов – это весь диапазон! А разница в пробнике 60 и 62 – мелочь. Просто пробник измеряется большими числами и «перекрикивает» часы. После min-max оба признака живут от 0 до 1, и ближе оказывается В. Для kNN и логистической регрессии масштаб критичен. Дереву – все равно: оно сравнивает один признак с порогом и не складывает признаки между собой.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Min-max сжимает признак в отрезок от 0 до 1: минимум превращается в 0, максимум – в 1. Пример: балл 61 при минимуме 35 и максимуме 90 дает 0,47. Минус: один выброс растянет знаменатель и сожмет все остальные значения к нулю. Стандартизация показывает, на сколько «стандартных отклонений» значение отстоит от среднего. σ – средний разброс вокруг среднего. Классический пример на доске: для 2, 4, 4, 4, 5, 5, 7, 9 среднее 5, σ = 2, значит 9 – это «на два σ выше среднего». После стандартизации у каждого признака среднее 0 и σ = 1. Именно это делает StandardScaler из sklearn.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самая коварная ошибка новичков. Медиана, границы выбросов, минимум и максимум, среднее и σ – это тоже «обучение»: мы узнаем их из данных. Если посчитать их по всей таблице, в них попадает информация из теста. Модель заранее «подглядывает» в контрольную, и оценка получается завышенной. Правило: сначала делим, потом считаем параметры только по обучающей выборке и применяем их к обеим. В ноутбуке это пары функций fit_... и apply_..., точно как fit и transform в sklearn. На нашей маленькой анкете для простоты считаем по всей таблице, а на Wine в заданиях П8 и П9 – правильно.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результат из ноутбука, задания П8 и П9. Одна модель – kNN с k = 5, одни данные – Wine, а точность меняется от 62 до 94 процентов только из-за подготовки. Пролин измеряется сотнями, оттенок – десятыми долями, без масштаба kNN смотрит почти только на пролин. Правая пара: мы испортили Wine – 5 % значений пропали, 2 % умножились на 10. Если только заполнить пропуски, точность 75 %: выбросы раздувают σ и сжимают остальные значения. Весь конвейер возвращает 92 % – почти как на чистых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практике. Задача – написать весь конвейер без библиотек. После этого SimpleImputer, StandardScaler и OneHotEncoder из sklearn перестанут быть черными ящиками.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Список словарей – самый наглядный способ хранить таблицу без pandas. Каждая строка – словарь «признак → значение», пропуск – None. Большинство функций работает не с таблицей, а со столбцом: функция column достает столбец как обычный список, set_column возвращает новую таблицу с замененным столбцом. Важное правило: функции не меняют исходные данные, а возвращают новые – так всегда можно вернуться назад и сравнить «до» и «после».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ноутбук и этот план. Задания идут в порядке конвейера, каждое опирается на предыдущие. Темным выделены два главных: П4 – выбросы, самые интересные формулы, и П9 – весь конвейер на испорченном Wine. После каждой функции в ячейке печатается строка «ожидается» – числа совпадают с доской. Правило: внутри функций – только списки, словари, циклы, math и random. Sklearn и numpy – только в готовых ячейках для сверки.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своими словами рассказать порядок подготовки данных и объяснить, почему среднее считают только по обучающей выборке. Если в ответе есть слова «медиана», «выброс», «утечка» и «масштаб» – тема усвоена. Домашнее задание – закончить практическую работу; сильным – задания повышенной сложности: робастное масштабирование, флаг пропуска, заполнение соседями, стратифицированное разделение и утечка своими руками.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vg_cover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0"/>
            <a:ext cx="43815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09600" y="1428750"/>
            <a:ext cx="4095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9 КЛАСС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609600" y="1666875"/>
            <a:ext cx="40957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данных:</a:t>
            </a:r>
            <a:endParaRPr lang="en-US" sz="29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чистим таблицу, прежде чем учить модель</a:t>
            </a:r>
            <a:endParaRPr lang="en-US" sz="2900" dirty="0"/>
          </a:p>
        </p:txBody>
      </p:sp>
      <p:sp>
        <p:nvSpPr>
          <p:cNvPr id="6" name="Shape 2"/>
          <p:cNvSpPr/>
          <p:nvPr/>
        </p:nvSpPr>
        <p:spPr>
          <a:xfrm>
            <a:off x="609600" y="4000500"/>
            <a:ext cx="342900" cy="34290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7" name="Image 1" descr="ic_GraduationCap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4086225"/>
            <a:ext cx="171450" cy="17145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66800" y="400050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Инженерная школа «УникУм», КузГТУ им. Т. Ф. Горбачева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vg_hook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19500" cy="5143500"/>
          </a:xfrm>
          <a:prstGeom prst="rect">
            <a:avLst/>
          </a:prstGeom>
        </p:spPr>
      </p:pic>
      <p:pic>
        <p:nvPicPr>
          <p:cNvPr id="4" name="Image 1" descr="ic_Warnin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86000"/>
            <a:ext cx="571500" cy="571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191000" y="571500"/>
            <a:ext cx="952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5200" dirty="0"/>
          </a:p>
        </p:txBody>
      </p:sp>
      <p:sp>
        <p:nvSpPr>
          <p:cNvPr id="6" name="Text 1"/>
          <p:cNvSpPr txBox="1"/>
          <p:nvPr/>
        </p:nvSpPr>
        <p:spPr>
          <a:xfrm>
            <a:off x="4191000" y="1238250"/>
            <a:ext cx="428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посоветовала лечить пациентов с пневмонией и астмой дома: по ее расчетам, астма снижает риск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4191000" y="2809875"/>
            <a:ext cx="42862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данных астматики и правда умирали реже – потому что врачи всегда сразу отправляли их в реанимацию. Модель выучила данные, а не медицину.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191000" y="3667125"/>
            <a:ext cx="428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ошибся – модель или данные?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4191000" y="4048125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из медицинского исследования (Caruana и др., 2015)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Большая часть работы – до обучения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12382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80 %</a:t>
            </a:r>
            <a:endParaRPr lang="en-US" sz="76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2333625"/>
            <a:ext cx="2952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 в проекте машинного обучения может уходить на сбор и подготовку данных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867150" y="1285875"/>
            <a:ext cx="4667250" cy="1666875"/>
          </a:xfrm>
          <a:prstGeom prst="roundRect">
            <a:avLst>
              <a:gd name="adj" fmla="val 4571"/>
            </a:avLst>
          </a:prstGeom>
          <a:solidFill>
            <a:srgbClr val="1C1C2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095750" y="1514475"/>
            <a:ext cx="4191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 – GARBAGE OUT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095750" y="1752600"/>
            <a:ext cx="4191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2F1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Мусор на входе – мусор на выходе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95750" y="21907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умная модель не исправит плохие данные. Она честно выучит все ошибки.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9600" y="3238500"/>
            <a:ext cx="1695450" cy="904875"/>
          </a:xfrm>
          <a:prstGeom prst="roundRect">
            <a:avLst>
              <a:gd name="adj" fmla="val 8421"/>
            </a:avLst>
          </a:prstGeom>
          <a:solidFill>
            <a:srgbClr val="F2F1E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2000" y="3371850"/>
            <a:ext cx="1390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 данных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2000" y="3857625"/>
            <a:ext cx="1390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381250" y="3619500"/>
            <a:ext cx="228600" cy="142875"/>
          </a:xfrm>
          <a:prstGeom prst="rightArrow">
            <a:avLst/>
          </a:prstGeom>
          <a:solidFill>
            <a:srgbClr val="B8AB84"/>
          </a:solidFill>
          <a:ln/>
        </p:spPr>
      </p:sp>
      <p:sp>
        <p:nvSpPr>
          <p:cNvPr id="15" name="Shape 12"/>
          <p:cNvSpPr/>
          <p:nvPr/>
        </p:nvSpPr>
        <p:spPr>
          <a:xfrm>
            <a:off x="2686050" y="3238500"/>
            <a:ext cx="1695450" cy="904875"/>
          </a:xfrm>
          <a:prstGeom prst="roundRect">
            <a:avLst>
              <a:gd name="adj" fmla="val 8421"/>
            </a:avLst>
          </a:prstGeom>
          <a:solidFill>
            <a:srgbClr val="1C1C2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838450" y="3371850"/>
            <a:ext cx="1390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838450" y="3857625"/>
            <a:ext cx="1390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57700" y="3619500"/>
            <a:ext cx="228600" cy="142875"/>
          </a:xfrm>
          <a:prstGeom prst="rightArrow">
            <a:avLst/>
          </a:prstGeom>
          <a:solidFill>
            <a:srgbClr val="B8AB84"/>
          </a:solidFill>
          <a:ln/>
        </p:spPr>
      </p:sp>
      <p:sp>
        <p:nvSpPr>
          <p:cNvPr id="19" name="Shape 16"/>
          <p:cNvSpPr/>
          <p:nvPr/>
        </p:nvSpPr>
        <p:spPr>
          <a:xfrm>
            <a:off x="4762500" y="3238500"/>
            <a:ext cx="1695450" cy="904875"/>
          </a:xfrm>
          <a:prstGeom prst="roundRect">
            <a:avLst>
              <a:gd name="adj" fmla="val 8421"/>
            </a:avLst>
          </a:prstGeom>
          <a:solidFill>
            <a:srgbClr val="F2F1E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914900" y="3371850"/>
            <a:ext cx="1390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модели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914900" y="3857625"/>
            <a:ext cx="1390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534150" y="3619500"/>
            <a:ext cx="228600" cy="142875"/>
          </a:xfrm>
          <a:prstGeom prst="rightArrow">
            <a:avLst/>
          </a:prstGeom>
          <a:solidFill>
            <a:srgbClr val="B8AB84"/>
          </a:solidFill>
          <a:ln/>
        </p:spPr>
      </p:sp>
      <p:sp>
        <p:nvSpPr>
          <p:cNvPr id="23" name="Shape 20"/>
          <p:cNvSpPr/>
          <p:nvPr/>
        </p:nvSpPr>
        <p:spPr>
          <a:xfrm>
            <a:off x="6838950" y="3238500"/>
            <a:ext cx="1695450" cy="904875"/>
          </a:xfrm>
          <a:prstGeom prst="roundRect">
            <a:avLst>
              <a:gd name="adj" fmla="val 8421"/>
            </a:avLst>
          </a:prstGeom>
          <a:solidFill>
            <a:srgbClr val="F2F1E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91350" y="3371850"/>
            <a:ext cx="1390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качества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91350" y="3857625"/>
            <a:ext cx="1390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vg_sec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0"/>
            <a:ext cx="43815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09600" y="14287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609600" y="2190750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не так с сырыми данными</a:t>
            </a:r>
            <a:endParaRPr lang="en-US" sz="2650" dirty="0"/>
          </a:p>
        </p:txBody>
      </p:sp>
      <p:sp>
        <p:nvSpPr>
          <p:cNvPr id="6" name="Text 2"/>
          <p:cNvSpPr txBox="1"/>
          <p:nvPr/>
        </p:nvSpPr>
        <p:spPr>
          <a:xfrm>
            <a:off x="609600" y="314325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Пропуски, дубликаты, опечатки, выбросы и разные масштабы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СЫРЫЕ ДАННЫЕ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Анкета 11 учеников: найдите пять проблем</a:t>
            </a:r>
            <a:endParaRPr lang="en-US" sz="2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90625"/>
          <a:ext cx="4762500" cy="914400"/>
        </p:xfrm>
        <a:graphic>
          <a:graphicData uri="http://schemas.openxmlformats.org/drawingml/2006/table">
            <a:tbl>
              <a:tblPr/>
              <a:tblGrid>
                <a:gridCol w="381000"/>
                <a:gridCol w="762000"/>
                <a:gridCol w="666750"/>
                <a:gridCol w="952500"/>
                <a:gridCol w="1428750"/>
                <a:gridCol w="571500"/>
              </a:tblGrid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часы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сон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пробник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профиль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сдал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'физмат'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'Физмат'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'химбио'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 гум'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'физмат 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'Гуманитарный'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'ф/м'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'гуманитарный'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'ХимБио'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'физмат'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'Физмат'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38800" y="1285875"/>
            <a:ext cx="266700" cy="2667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638800" y="128587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019800" y="1266825"/>
            <a:ext cx="2524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Пропуски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019800" y="1466850"/>
            <a:ext cx="2524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«–» у учеников 3, 6 и 8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638800" y="1933575"/>
            <a:ext cx="266700" cy="2667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638800" y="193357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019800" y="1914525"/>
            <a:ext cx="2524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Дубликат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019800" y="2114550"/>
            <a:ext cx="2524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11 = строка 2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38800" y="2581275"/>
            <a:ext cx="266700" cy="2667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638800" y="258127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019800" y="2562225"/>
            <a:ext cx="2524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Разнобой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019800" y="2762250"/>
            <a:ext cx="2524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записей для 3 профилей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638800" y="3228975"/>
            <a:ext cx="266700" cy="2667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638800" y="322897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019800" y="3209925"/>
            <a:ext cx="2524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Выброс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019800" y="3409950"/>
            <a:ext cx="2524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часов сна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638800" y="3876675"/>
            <a:ext cx="266700" cy="2667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638800" y="387667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019800" y="3857625"/>
            <a:ext cx="2524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Разные масштабы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019800" y="4057650"/>
            <a:ext cx="2524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сон 6–9, пробник 35–90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БЕРЕТСЯ ГРЯЗЬ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пачкаются по дороге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238250"/>
            <a:ext cx="1895475" cy="2095500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" y="1428750"/>
            <a:ext cx="419100" cy="41910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7" name="Image 0" descr="ic_User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75" y="1533525"/>
            <a:ext cx="209550" cy="2095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0100" y="2000250"/>
            <a:ext cx="15144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Человек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800100" y="2286000"/>
            <a:ext cx="15144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Опечатка, лишний ноль, поле не заполнено: сон «50» вместо «5»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19375" y="1238250"/>
            <a:ext cx="1895475" cy="2095500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809875" y="1428750"/>
            <a:ext cx="419100" cy="41910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12" name="Image 1" descr="ic_Lightnin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0" y="1533525"/>
            <a:ext cx="209550" cy="20955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09875" y="2000250"/>
            <a:ext cx="15144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Техника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2809875" y="2286000"/>
            <a:ext cx="15144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потерял связь, сервер записал строку дважды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29150" y="1238250"/>
            <a:ext cx="1895475" cy="2095500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19650" y="1428750"/>
            <a:ext cx="419100" cy="41910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17" name="Image 2" descr="ic_Lin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425" y="1533525"/>
            <a:ext cx="209550" cy="20955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19650" y="2000250"/>
            <a:ext cx="15144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Объединение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4819650" y="2286000"/>
            <a:ext cx="15144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«п. Заозерный» и «поселок Заозерный» из двух разных баз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638925" y="1238250"/>
            <a:ext cx="1895475" cy="2095500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829425" y="1428750"/>
            <a:ext cx="419100" cy="41910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22" name="Image 3" descr="ic_Clo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533525"/>
            <a:ext cx="209550" cy="20955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29425" y="2000250"/>
            <a:ext cx="15144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Время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6829425" y="2286000"/>
            <a:ext cx="15144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устарели: человек переехал, адрес остался старым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09600" y="3571875"/>
            <a:ext cx="7924800" cy="809625"/>
          </a:xfrm>
          <a:prstGeom prst="roundRect">
            <a:avLst>
              <a:gd name="adj" fmla="val 9412"/>
            </a:avLst>
          </a:prstGeom>
          <a:solidFill>
            <a:srgbClr val="1C1C22"/>
          </a:solidFill>
          <a:ln/>
        </p:spPr>
      </p:sp>
      <p:sp>
        <p:nvSpPr>
          <p:cNvPr id="26" name="Shape 19"/>
          <p:cNvSpPr/>
          <p:nvPr/>
        </p:nvSpPr>
        <p:spPr>
          <a:xfrm>
            <a:off x="800100" y="3824288"/>
            <a:ext cx="304800" cy="304800"/>
          </a:xfrm>
          <a:prstGeom prst="ellipse">
            <a:avLst/>
          </a:prstGeom>
          <a:solidFill>
            <a:srgbClr val="B8AB84"/>
          </a:solidFill>
          <a:ln/>
        </p:spPr>
      </p:sp>
      <p:pic>
        <p:nvPicPr>
          <p:cNvPr id="27" name="Image 4" descr="ic_Search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900488"/>
            <a:ext cx="152400" cy="1524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57300" y="3667125"/>
            <a:ext cx="70961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правило: </a:t>
            </a:r>
            <a:pPr indent="0" marL="0">
              <a:buNone/>
            </a:pPr>
            <a:r>
              <a:rPr lang="en-US" sz="1200" dirty="0">
                <a:solidFill>
                  <a:srgbClr val="F2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обучать, осмотрите данные – сколько пропусков, какие значения встречаются, нет ли странных чисел.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УБОРКИ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шагов подготовки – порядок важен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1190625"/>
            <a:ext cx="3810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ЧИСТКА ТАБЛИЦЫ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09600" y="1400175"/>
            <a:ext cx="1895475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2000" y="153352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 txBox="1"/>
          <p:nvPr/>
        </p:nvSpPr>
        <p:spPr>
          <a:xfrm>
            <a:off x="762000" y="1800225"/>
            <a:ext cx="1590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Осмотр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62000" y="2200275"/>
            <a:ext cx="1590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пропуски и варианты значений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19375" y="1400175"/>
            <a:ext cx="1895475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71775" y="153352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9"/>
          <p:cNvSpPr txBox="1"/>
          <p:nvPr/>
        </p:nvSpPr>
        <p:spPr>
          <a:xfrm>
            <a:off x="2771775" y="1800225"/>
            <a:ext cx="1590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Дубликаты и опечатки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771775" y="2200275"/>
            <a:ext cx="1590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убираем повторы, приводим записи к одному виду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29150" y="1400175"/>
            <a:ext cx="1895475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81550" y="153352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3"/>
          <p:cNvSpPr txBox="1"/>
          <p:nvPr/>
        </p:nvSpPr>
        <p:spPr>
          <a:xfrm>
            <a:off x="4781550" y="1800225"/>
            <a:ext cx="1590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Выбросы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781550" y="2200275"/>
            <a:ext cx="1590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находим по квартилям и превращаем в пропуски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638925" y="1400175"/>
            <a:ext cx="1895475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91325" y="1533525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50" dirty="0"/>
          </a:p>
        </p:txBody>
      </p:sp>
      <p:sp>
        <p:nvSpPr>
          <p:cNvPr id="20" name="Text 17"/>
          <p:cNvSpPr txBox="1"/>
          <p:nvPr/>
        </p:nvSpPr>
        <p:spPr>
          <a:xfrm>
            <a:off x="6791325" y="1800225"/>
            <a:ext cx="1590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Пропуски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791325" y="2200275"/>
            <a:ext cx="1590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заполняем медианой или модой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09600" y="2952750"/>
            <a:ext cx="3810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К МОДЕЛИ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9600" y="3162300"/>
            <a:ext cx="2565400" cy="1285875"/>
          </a:xfrm>
          <a:prstGeom prst="roundRect">
            <a:avLst>
              <a:gd name="adj" fmla="val 5926"/>
            </a:avLst>
          </a:prstGeom>
          <a:solidFill>
            <a:srgbClr val="1C1C2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62000" y="329565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50" dirty="0"/>
          </a:p>
        </p:txBody>
      </p:sp>
      <p:sp>
        <p:nvSpPr>
          <p:cNvPr id="25" name="Text 22"/>
          <p:cNvSpPr txBox="1"/>
          <p:nvPr/>
        </p:nvSpPr>
        <p:spPr>
          <a:xfrm>
            <a:off x="762000" y="3562350"/>
            <a:ext cx="226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2F1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Кодирование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62000" y="3962400"/>
            <a:ext cx="2260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превращаем в числа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89300" y="3162300"/>
            <a:ext cx="2565400" cy="1285875"/>
          </a:xfrm>
          <a:prstGeom prst="roundRect">
            <a:avLst>
              <a:gd name="adj" fmla="val 5926"/>
            </a:avLst>
          </a:prstGeom>
          <a:solidFill>
            <a:srgbClr val="1C1C2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441700" y="329565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50" dirty="0"/>
          </a:p>
        </p:txBody>
      </p:sp>
      <p:sp>
        <p:nvSpPr>
          <p:cNvPr id="29" name="Text 26"/>
          <p:cNvSpPr txBox="1"/>
          <p:nvPr/>
        </p:nvSpPr>
        <p:spPr>
          <a:xfrm>
            <a:off x="3441700" y="3562350"/>
            <a:ext cx="226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2F1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Разделение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441700" y="3962400"/>
            <a:ext cx="2260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обучающая и тестовая выборки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69000" y="3162300"/>
            <a:ext cx="2565400" cy="1285875"/>
          </a:xfrm>
          <a:prstGeom prst="roundRect">
            <a:avLst>
              <a:gd name="adj" fmla="val 5926"/>
            </a:avLst>
          </a:prstGeom>
          <a:solidFill>
            <a:srgbClr val="1C1C2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21400" y="3295650"/>
            <a:ext cx="47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50" dirty="0"/>
          </a:p>
        </p:txBody>
      </p:sp>
      <p:sp>
        <p:nvSpPr>
          <p:cNvPr id="33" name="Text 30"/>
          <p:cNvSpPr txBox="1"/>
          <p:nvPr/>
        </p:nvSpPr>
        <p:spPr>
          <a:xfrm>
            <a:off x="6121400" y="3562350"/>
            <a:ext cx="226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2F1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Масштабирование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121400" y="3962400"/>
            <a:ext cx="2260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признаки к одному масштабу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vg_sec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0"/>
            <a:ext cx="43815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09600" y="14287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609600" y="2190750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Чистим таблицу</a:t>
            </a:r>
            <a:endParaRPr lang="en-US" sz="2650" dirty="0"/>
          </a:p>
        </p:txBody>
      </p:sp>
      <p:sp>
        <p:nvSpPr>
          <p:cNvPr id="6" name="Text 2"/>
          <p:cNvSpPr txBox="1"/>
          <p:nvPr/>
        </p:nvSpPr>
        <p:spPr>
          <a:xfrm>
            <a:off x="609600" y="314325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Дубликаты, разнобой, средние величины, выбросы и пропуски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ДУБЛИКАТЫ И РАЗНОБОЙ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и то же – одной записью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238250"/>
            <a:ext cx="2952750" cy="31432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" y="1428750"/>
            <a:ext cx="2571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Дубликаты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0100" y="180975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│ 2 │ 6 │ 40 │ 'Физмат' │ 0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00100" y="2028825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│ 2 │ 6 │ 40 │ 'Физмат' │ 0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00100" y="2428875"/>
            <a:ext cx="2571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→ 10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00100" y="3095625"/>
            <a:ext cx="2571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строки – модель считает ученика дважды, и его «голос» весит вдвое больше.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14750" y="1238250"/>
            <a:ext cx="48196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05250" y="1428750"/>
            <a:ext cx="4429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Разнобой в записи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905250" y="1752600"/>
            <a:ext cx="4429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вариантов записи: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05250" y="1990725"/>
            <a:ext cx="762000" cy="238125"/>
          </a:xfrm>
          <a:prstGeom prst="roundRect">
            <a:avLst>
              <a:gd name="adj" fmla="val 20000"/>
            </a:avLst>
          </a:prstGeom>
          <a:solidFill>
            <a:srgbClr val="F2F1E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905250" y="1990725"/>
            <a:ext cx="762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'физмат'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24400" y="1990725"/>
            <a:ext cx="762000" cy="238125"/>
          </a:xfrm>
          <a:prstGeom prst="roundRect">
            <a:avLst>
              <a:gd name="adj" fmla="val 20000"/>
            </a:avLst>
          </a:prstGeom>
          <a:solidFill>
            <a:srgbClr val="F2F1E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724400" y="1990725"/>
            <a:ext cx="762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'Физмат'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43550" y="1990725"/>
            <a:ext cx="835819" cy="238125"/>
          </a:xfrm>
          <a:prstGeom prst="roundRect">
            <a:avLst>
              <a:gd name="adj" fmla="val 20000"/>
            </a:avLst>
          </a:prstGeom>
          <a:solidFill>
            <a:srgbClr val="F2F1E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543550" y="1990725"/>
            <a:ext cx="835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'физмат '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36519" y="1990725"/>
            <a:ext cx="540544" cy="238125"/>
          </a:xfrm>
          <a:prstGeom prst="roundRect">
            <a:avLst>
              <a:gd name="adj" fmla="val 20000"/>
            </a:avLst>
          </a:prstGeom>
          <a:solidFill>
            <a:srgbClr val="F2F1E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36519" y="1990725"/>
            <a:ext cx="5405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'ф/м'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034213" y="1990725"/>
            <a:ext cx="614363" cy="238125"/>
          </a:xfrm>
          <a:prstGeom prst="roundRect">
            <a:avLst>
              <a:gd name="adj" fmla="val 20000"/>
            </a:avLst>
          </a:prstGeom>
          <a:solidFill>
            <a:srgbClr val="F2F1E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034213" y="1990725"/>
            <a:ext cx="6143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гум'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905250" y="2295525"/>
            <a:ext cx="1204913" cy="238125"/>
          </a:xfrm>
          <a:prstGeom prst="roundRect">
            <a:avLst>
              <a:gd name="adj" fmla="val 20000"/>
            </a:avLst>
          </a:prstGeom>
          <a:solidFill>
            <a:srgbClr val="F2F1E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905250" y="2295525"/>
            <a:ext cx="12049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'Гуманитарный'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67313" y="2295525"/>
            <a:ext cx="1204913" cy="238125"/>
          </a:xfrm>
          <a:prstGeom prst="roundRect">
            <a:avLst>
              <a:gd name="adj" fmla="val 20000"/>
            </a:avLst>
          </a:prstGeom>
          <a:solidFill>
            <a:srgbClr val="F2F1E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167313" y="2295525"/>
            <a:ext cx="12049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'гуманитарный'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29375" y="2295525"/>
            <a:ext cx="762000" cy="238125"/>
          </a:xfrm>
          <a:prstGeom prst="roundRect">
            <a:avLst>
              <a:gd name="adj" fmla="val 20000"/>
            </a:avLst>
          </a:prstGeom>
          <a:solidFill>
            <a:srgbClr val="F2F1E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429375" y="2295525"/>
            <a:ext cx="762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'химбио'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248525" y="2295525"/>
            <a:ext cx="762000" cy="238125"/>
          </a:xfrm>
          <a:prstGeom prst="roundRect">
            <a:avLst>
              <a:gd name="adj" fmla="val 20000"/>
            </a:avLst>
          </a:prstGeom>
          <a:solidFill>
            <a:srgbClr val="F2F1E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48525" y="2295525"/>
            <a:ext cx="762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'ХимБио'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3905250" y="2724150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strip()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762500" y="2771775"/>
            <a:ext cx="209550" cy="114300"/>
          </a:xfrm>
          <a:prstGeom prst="rightArrow">
            <a:avLst/>
          </a:prstGeom>
          <a:solidFill>
            <a:srgbClr val="B8AB8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067300" y="2724150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lower()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924550" y="2771775"/>
            <a:ext cx="209550" cy="114300"/>
          </a:xfrm>
          <a:prstGeom prst="rightArrow">
            <a:avLst/>
          </a:prstGeom>
          <a:solidFill>
            <a:srgbClr val="B8AB8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229350" y="2724150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словарь синонимов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3905250" y="310515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профиля: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905250" y="3343275"/>
            <a:ext cx="661988" cy="257175"/>
          </a:xfrm>
          <a:prstGeom prst="roundRect">
            <a:avLst>
              <a:gd name="adj" fmla="val 18519"/>
            </a:avLst>
          </a:prstGeom>
          <a:solidFill>
            <a:srgbClr val="1C1C2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905250" y="3343275"/>
            <a:ext cx="6619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физмат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624388" y="3343275"/>
            <a:ext cx="1104900" cy="257175"/>
          </a:xfrm>
          <a:prstGeom prst="roundRect">
            <a:avLst>
              <a:gd name="adj" fmla="val 18519"/>
            </a:avLst>
          </a:prstGeom>
          <a:solidFill>
            <a:srgbClr val="1C1C2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624388" y="3343275"/>
            <a:ext cx="1104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гуманитарный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786438" y="3343275"/>
            <a:ext cx="661988" cy="257175"/>
          </a:xfrm>
          <a:prstGeom prst="roundRect">
            <a:avLst>
              <a:gd name="adj" fmla="val 18519"/>
            </a:avLst>
          </a:prstGeom>
          <a:solidFill>
            <a:srgbClr val="1C1C2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786438" y="3343275"/>
            <a:ext cx="6619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химбио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ВЕЛИЧИНЫ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спит типичный ученик?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238250"/>
            <a:ext cx="342900" cy="342900"/>
          </a:xfrm>
          <a:prstGeom prst="ellipse">
            <a:avLst/>
          </a:prstGeom>
          <a:solidFill>
            <a:srgbClr val="F2F1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9600" y="12382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28700" y="1238250"/>
            <a:ext cx="342900" cy="342900"/>
          </a:xfrm>
          <a:prstGeom prst="ellipse">
            <a:avLst/>
          </a:prstGeom>
          <a:solidFill>
            <a:srgbClr val="F2F1E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28700" y="12382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447800" y="1238250"/>
            <a:ext cx="342900" cy="342900"/>
          </a:xfrm>
          <a:prstGeom prst="ellipse">
            <a:avLst/>
          </a:prstGeom>
          <a:solidFill>
            <a:srgbClr val="F2F1E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47800" y="12382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66900" y="1238250"/>
            <a:ext cx="342900" cy="342900"/>
          </a:xfrm>
          <a:prstGeom prst="ellipse">
            <a:avLst/>
          </a:prstGeom>
          <a:solidFill>
            <a:srgbClr val="F2F1E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866900" y="12382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86000" y="1238250"/>
            <a:ext cx="342900" cy="3429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286000" y="12382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05100" y="1238250"/>
            <a:ext cx="342900" cy="342900"/>
          </a:xfrm>
          <a:prstGeom prst="ellipse">
            <a:avLst/>
          </a:prstGeom>
          <a:solidFill>
            <a:srgbClr val="F2F1E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705100" y="12382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124200" y="1238250"/>
            <a:ext cx="342900" cy="342900"/>
          </a:xfrm>
          <a:prstGeom prst="ellipse">
            <a:avLst/>
          </a:prstGeom>
          <a:solidFill>
            <a:srgbClr val="F2F1E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124200" y="12382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43300" y="1238250"/>
            <a:ext cx="342900" cy="342900"/>
          </a:xfrm>
          <a:prstGeom prst="ellipse">
            <a:avLst/>
          </a:prstGeom>
          <a:solidFill>
            <a:srgbClr val="F2F1E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543300" y="12382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962400" y="1238250"/>
            <a:ext cx="76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·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762500" y="1238250"/>
            <a:ext cx="342900" cy="342900"/>
          </a:xfrm>
          <a:prstGeom prst="ellipse">
            <a:avLst/>
          </a:prstGeom>
          <a:solidFill>
            <a:srgbClr val="B8AB8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762500" y="12382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286375" y="123825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сон, отсортирован по возрастанию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9600" y="1905000"/>
            <a:ext cx="25654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0100" y="2095500"/>
            <a:ext cx="2184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" y="2333625"/>
            <a:ext cx="21844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÷ количество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" y="2762250"/>
            <a:ext cx="218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50" dirty="0"/>
          </a:p>
        </p:txBody>
      </p:sp>
      <p:sp>
        <p:nvSpPr>
          <p:cNvPr id="29" name="Text 26"/>
          <p:cNvSpPr txBox="1"/>
          <p:nvPr/>
        </p:nvSpPr>
        <p:spPr>
          <a:xfrm>
            <a:off x="800100" y="3476625"/>
            <a:ext cx="2184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÷ 9 = 12 часов. Один выброс утянул среднее вверх.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89300" y="1905000"/>
            <a:ext cx="2565400" cy="2476500"/>
          </a:xfrm>
          <a:prstGeom prst="roundRect">
            <a:avLst>
              <a:gd name="adj" fmla="val 3077"/>
            </a:avLst>
          </a:prstGeom>
          <a:solidFill>
            <a:srgbClr val="1C1C2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479800" y="2095500"/>
            <a:ext cx="2184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479800" y="2333625"/>
            <a:ext cx="21844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 отсортированного списка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479800" y="2762250"/>
            <a:ext cx="218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50" dirty="0"/>
          </a:p>
        </p:txBody>
      </p:sp>
      <p:sp>
        <p:nvSpPr>
          <p:cNvPr id="34" name="Text 31"/>
          <p:cNvSpPr txBox="1"/>
          <p:nvPr/>
        </p:nvSpPr>
        <p:spPr>
          <a:xfrm>
            <a:off x="3479800" y="3476625"/>
            <a:ext cx="2184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2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5-е значение из 9. Выброс почти не сдвигает медиану.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969000" y="1905000"/>
            <a:ext cx="25654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159500" y="2095500"/>
            <a:ext cx="2184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6159500" y="2333625"/>
            <a:ext cx="21844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частое значение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159500" y="2762250"/>
            <a:ext cx="218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физмат</a:t>
            </a:r>
            <a:endParaRPr lang="en-US" sz="3850" dirty="0"/>
          </a:p>
        </p:txBody>
      </p:sp>
      <p:sp>
        <p:nvSpPr>
          <p:cNvPr id="39" name="Text 36"/>
          <p:cNvSpPr txBox="1"/>
          <p:nvPr/>
        </p:nvSpPr>
        <p:spPr>
          <a:xfrm>
            <a:off x="6159500" y="3476625"/>
            <a:ext cx="2184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категорий: «средний профиль» посчитать нельзя.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ВЫБРОСЫ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Квартили делят список на четыре части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1676400" y="1190625"/>
            <a:ext cx="609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1752600" y="1390650"/>
            <a:ext cx="457200" cy="400050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752600" y="1390650"/>
            <a:ext cx="457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2324100" y="1190625"/>
            <a:ext cx="609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00300" y="1390650"/>
            <a:ext cx="457200" cy="400050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400300" y="1390650"/>
            <a:ext cx="457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2971800" y="1190625"/>
            <a:ext cx="609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048000" y="1390650"/>
            <a:ext cx="457200" cy="400050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048000" y="1390650"/>
            <a:ext cx="457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2876550" y="185737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619500" y="1190625"/>
            <a:ext cx="609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95700" y="1390650"/>
            <a:ext cx="457200" cy="400050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695700" y="1390650"/>
            <a:ext cx="457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267200" y="1190625"/>
            <a:ext cx="609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43400" y="1390650"/>
            <a:ext cx="457200" cy="400050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343400" y="1390650"/>
            <a:ext cx="457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171950" y="185737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914900" y="1190625"/>
            <a:ext cx="609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991100" y="1390650"/>
            <a:ext cx="457200" cy="400050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991100" y="1390650"/>
            <a:ext cx="457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5562600" y="1190625"/>
            <a:ext cx="609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638800" y="1390650"/>
            <a:ext cx="457200" cy="400050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638800" y="1390650"/>
            <a:ext cx="457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5467350" y="185737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210300" y="1190625"/>
            <a:ext cx="609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286500" y="1390650"/>
            <a:ext cx="457200" cy="400050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286500" y="1390650"/>
            <a:ext cx="457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6858000" y="1190625"/>
            <a:ext cx="609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934200" y="1390650"/>
            <a:ext cx="457200" cy="400050"/>
          </a:xfrm>
          <a:prstGeom prst="roundRect">
            <a:avLst>
              <a:gd name="adj" fmla="val 14286"/>
            </a:avLst>
          </a:prstGeom>
          <a:solidFill>
            <a:srgbClr val="B8AB8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934200" y="1390650"/>
            <a:ext cx="457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609600" y="2286000"/>
            <a:ext cx="25654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81050" y="2457450"/>
            <a:ext cx="222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КВАНТИЛЬ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781050" y="2695575"/>
            <a:ext cx="222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 (n − 1) · q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81050" y="3190875"/>
            <a:ext cx="222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9: Q1 на позиции 2, медиана – 4, Q3 – 6. Дробная позиция – берем значение между соседями.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289300" y="2286000"/>
            <a:ext cx="25654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460750" y="2457450"/>
            <a:ext cx="222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РАЗМАХ СЕРЕДИНЫ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3460750" y="2695575"/>
            <a:ext cx="222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Q3 − Q1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3460750" y="3190875"/>
            <a:ext cx="222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«ящика», в котором лежит половина всех значений.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969000" y="2286000"/>
            <a:ext cx="25654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140450" y="2457450"/>
            <a:ext cx="222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НОРМЫ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6140450" y="2695575"/>
            <a:ext cx="222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Q1 − 1,5·IQR … Q3 + 1,5·IQR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6140450" y="3190875"/>
            <a:ext cx="222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Все, что за границами, – подозрение на выброс.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Ищем выброс в столбце «сон»</a:t>
            </a:r>
            <a:endParaRPr lang="en-US" sz="2300" dirty="0"/>
          </a:p>
        </p:txBody>
      </p:sp>
      <p:pic>
        <p:nvPicPr>
          <p:cNvPr id="5" name="Image 0" descr="svg_boxplo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190625"/>
            <a:ext cx="7924800" cy="12382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19213" y="1190625"/>
            <a:ext cx="1524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 сна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909638" y="2219325"/>
            <a:ext cx="666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2090738" y="2219325"/>
            <a:ext cx="666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3752850" y="2219325"/>
            <a:ext cx="1905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сна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467600" y="2219325"/>
            <a:ext cx="1066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выброс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600" y="2857500"/>
            <a:ext cx="1909762" cy="1428750"/>
          </a:xfrm>
          <a:prstGeom prst="roundRect">
            <a:avLst>
              <a:gd name="adj" fmla="val 5333"/>
            </a:avLst>
          </a:prstGeom>
          <a:solidFill>
            <a:srgbClr val="F2F1E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62000" y="3028950"/>
            <a:ext cx="1604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762000" y="3286125"/>
            <a:ext cx="1604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6, Q3 = 8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2000" y="3762375"/>
            <a:ext cx="1604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позиции 2 и 6 из 9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614613" y="2857500"/>
            <a:ext cx="1909762" cy="1428750"/>
          </a:xfrm>
          <a:prstGeom prst="roundRect">
            <a:avLst>
              <a:gd name="adj" fmla="val 5333"/>
            </a:avLst>
          </a:prstGeom>
          <a:solidFill>
            <a:srgbClr val="F2F1ED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767013" y="3028950"/>
            <a:ext cx="1604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2767013" y="3286125"/>
            <a:ext cx="1604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8 − 6 = 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767013" y="3762375"/>
            <a:ext cx="1604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«ящика»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19625" y="2857500"/>
            <a:ext cx="1909762" cy="1428750"/>
          </a:xfrm>
          <a:prstGeom prst="roundRect">
            <a:avLst>
              <a:gd name="adj" fmla="val 5333"/>
            </a:avLst>
          </a:prstGeom>
          <a:solidFill>
            <a:srgbClr val="F2F1E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772025" y="3028950"/>
            <a:ext cx="1604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4772025" y="3286125"/>
            <a:ext cx="1604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[6 − 3; 8 + 3]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772025" y="3762375"/>
            <a:ext cx="1604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· IQR = 3, норма от 3 до 11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624638" y="2857500"/>
            <a:ext cx="1909762" cy="1428750"/>
          </a:xfrm>
          <a:prstGeom prst="roundRect">
            <a:avLst>
              <a:gd name="adj" fmla="val 5333"/>
            </a:avLst>
          </a:prstGeom>
          <a:solidFill>
            <a:srgbClr val="1C1C2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777038" y="3028950"/>
            <a:ext cx="1604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6777038" y="3286125"/>
            <a:ext cx="1604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→ None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777038" y="3762375"/>
            <a:ext cx="1604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 превращаем в пропуск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Удалить или заполнить?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238250"/>
            <a:ext cx="2565400" cy="2143125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" y="1409700"/>
            <a:ext cx="342900" cy="34290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7" name="Image 0" descr="ic_Trash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1495425"/>
            <a:ext cx="171450" cy="1714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0100" y="1866900"/>
            <a:ext cx="2184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Удалить строку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800100" y="2171700"/>
            <a:ext cx="2184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Когда: </a:t>
            </a:r>
            <a:pPr indent="0" marL="0">
              <a:buNone/>
            </a:pPr>
            <a:r>
              <a:rPr lang="en-US" sz="110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пропусков мало, а строк много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00100" y="2857500"/>
            <a:ext cx="2184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</a:t>
            </a:r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теряем остальные признаки объекта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89300" y="1238250"/>
            <a:ext cx="2565400" cy="2143125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79800" y="1409700"/>
            <a:ext cx="342900" cy="34290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13" name="Image 1" descr="ic_Databas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525" y="1495425"/>
            <a:ext cx="171450" cy="1714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79800" y="1866900"/>
            <a:ext cx="2184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Удалить столбец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3479800" y="2171700"/>
            <a:ext cx="2184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Когда: </a:t>
            </a:r>
            <a:pPr indent="0" marL="0">
              <a:buNone/>
            </a:pPr>
            <a:r>
              <a:rPr lang="en-US" sz="110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пропущена большая часть значений признака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479800" y="2857500"/>
            <a:ext cx="2184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</a:t>
            </a:r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теряем признак целиком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969000" y="1238250"/>
            <a:ext cx="2565400" cy="2143125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59500" y="1409700"/>
            <a:ext cx="342900" cy="342900"/>
          </a:xfrm>
          <a:prstGeom prst="ellipse">
            <a:avLst/>
          </a:prstGeom>
          <a:solidFill>
            <a:srgbClr val="1C1C22"/>
          </a:solidFill>
          <a:ln/>
        </p:spPr>
      </p:sp>
      <p:pic>
        <p:nvPicPr>
          <p:cNvPr id="19" name="Image 2" descr="ic_Wrench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25" y="1495425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159500" y="1866900"/>
            <a:ext cx="2184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Заполнить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6159500" y="2171700"/>
            <a:ext cx="2184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Когда: </a:t>
            </a:r>
            <a:pPr indent="0" marL="0">
              <a:buNone/>
            </a:pPr>
            <a:r>
              <a:rPr lang="en-US" sz="110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– медианой, категории – модой или словом «неизвестно»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6159500" y="2857500"/>
            <a:ext cx="2184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</a:t>
            </a:r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подставленное значение – только догадка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09600" y="3571875"/>
            <a:ext cx="7924800" cy="857250"/>
          </a:xfrm>
          <a:prstGeom prst="roundRect">
            <a:avLst>
              <a:gd name="adj" fmla="val 8889"/>
            </a:avLst>
          </a:prstGeom>
          <a:solidFill>
            <a:srgbClr val="1C1C2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00100" y="3667125"/>
            <a:ext cx="7543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спросите, почему значение пропало. </a:t>
            </a:r>
            <a:pPr indent="0" marL="0">
              <a:buNone/>
            </a:pPr>
            <a:r>
              <a:rPr lang="en-US" sz="1150" dirty="0">
                <a:solidFill>
                  <a:srgbClr val="F2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Графу «были ли аварии» часто не заполняют, когда аварий не было, – значит, пропуск разумно заполнить «нет». В нашей анкете: сон 50 и «–» заменяем медианой 7,5.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vg_sec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0"/>
            <a:ext cx="43815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09600" y="14287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609600" y="2190750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Готовим к модели</a:t>
            </a:r>
            <a:endParaRPr lang="en-US" sz="2650" dirty="0"/>
          </a:p>
        </p:txBody>
      </p:sp>
      <p:sp>
        <p:nvSpPr>
          <p:cNvPr id="6" name="Text 2"/>
          <p:cNvSpPr txBox="1"/>
          <p:nvPr/>
        </p:nvSpPr>
        <p:spPr>
          <a:xfrm>
            <a:off x="609600" y="314325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 категорий, разделение выборки и масштабирование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понимает только числа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238250"/>
            <a:ext cx="38862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" y="1409700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00100" y="1619250"/>
            <a:ext cx="3505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Номер по алфавиту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" y="2095500"/>
          <a:ext cx="3505200" cy="914400"/>
        </p:xfrm>
        <a:graphic>
          <a:graphicData uri="http://schemas.openxmlformats.org/drawingml/2006/table">
            <a:tbl>
              <a:tblPr/>
              <a:tblGrid>
                <a:gridCol w="2453640"/>
                <a:gridCol w="1051560"/>
              </a:tblGrid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профиль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код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физмат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химбио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гуманитарный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00100" y="3476625"/>
            <a:ext cx="285750" cy="285750"/>
          </a:xfrm>
          <a:prstGeom prst="ellipse">
            <a:avLst/>
          </a:prstGeom>
          <a:solidFill>
            <a:srgbClr val="B8AB84"/>
          </a:solidFill>
          <a:ln/>
        </p:spPr>
      </p:sp>
      <p:pic>
        <p:nvPicPr>
          <p:cNvPr id="10" name="Image 0" descr="ic_Warnin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538" y="3548063"/>
            <a:ext cx="142875" cy="14287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00150" y="3448050"/>
            <a:ext cx="3105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решит, что химбио «больше» физмата, а физмат – посередине. Такого порядка нет.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648200" y="1238250"/>
            <a:ext cx="3886200" cy="3143250"/>
          </a:xfrm>
          <a:prstGeom prst="roundRect">
            <a:avLst>
              <a:gd name="adj" fmla="val 2424"/>
            </a:avLst>
          </a:prstGeom>
          <a:solidFill>
            <a:srgbClr val="1C1C2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4838700" y="1409700"/>
            <a:ext cx="333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4838700" y="1619250"/>
            <a:ext cx="3505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Столбец на каждую категорию</a:t>
            </a:r>
            <a:endParaRPr lang="en-US" sz="13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38700" y="2095500"/>
          <a:ext cx="3505200" cy="914400"/>
        </p:xfrm>
        <a:graphic>
          <a:graphicData uri="http://schemas.openxmlformats.org/drawingml/2006/table">
            <a:tbl>
              <a:tblPr/>
              <a:tblGrid>
                <a:gridCol w="1612392"/>
                <a:gridCol w="630936"/>
                <a:gridCol w="630936"/>
                <a:gridCol w="630936"/>
              </a:tblGrid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профиль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гум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физ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хим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физмат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химбио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гуманитарный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4838700" y="3476625"/>
            <a:ext cx="285750" cy="285750"/>
          </a:xfrm>
          <a:prstGeom prst="ellipse">
            <a:avLst/>
          </a:prstGeom>
          <a:solidFill>
            <a:srgbClr val="B8AB84"/>
          </a:solidFill>
          <a:ln/>
        </p:spPr>
      </p:sp>
      <p:pic>
        <p:nvPicPr>
          <p:cNvPr id="17" name="Image 1" descr="ic_Chec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138" y="3548063"/>
            <a:ext cx="142875" cy="14287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750" y="3448050"/>
            <a:ext cx="3105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2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профили равноправны. Минус: 500 городов – это 500 новых столбцов.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ПРИЗНАКОВ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Какой ученик ближе к А?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190625"/>
            <a:ext cx="26670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" y="1362075"/>
            <a:ext cx="2286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ученика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" y="1714500"/>
          <a:ext cx="2286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9144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ученик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часы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E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пробник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А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Б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В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00100" y="3095625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Часы: от 1 до 9. Пробник: от 35 до 90.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429000" y="1190625"/>
            <a:ext cx="510540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19500" y="1343025"/>
            <a:ext cx="4286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МАСШТАБА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619500" y="1571625"/>
            <a:ext cx="4714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d(А, Б) = √(7² + 2²) ≈ 7,3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619500" y="1800225"/>
            <a:ext cx="4714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d(А, В) = √(0² + 10²) = 10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619500" y="2085975"/>
            <a:ext cx="471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Ближе Б?!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429000" y="2571750"/>
            <a:ext cx="5105400" cy="1285875"/>
          </a:xfrm>
          <a:prstGeom prst="roundRect">
            <a:avLst>
              <a:gd name="adj" fmla="val 5926"/>
            </a:avLst>
          </a:prstGeom>
          <a:solidFill>
            <a:srgbClr val="1C1C2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619500" y="2724150"/>
            <a:ext cx="4286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MIN-MAX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3619500" y="2952750"/>
            <a:ext cx="4714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F1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d(А, Б) ≈ 0,88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19500" y="3181350"/>
            <a:ext cx="4714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F1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d(А, В) ≈ 0,18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619500" y="3467100"/>
            <a:ext cx="471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Ближе В – как и должно быть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609600" y="4048125"/>
            <a:ext cx="792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с большими числами «перекрикивает» остальные. kNN и логистической регрессии это мешает, дереву – нет.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способа выровнять признаки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238250"/>
            <a:ext cx="38862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" y="1409700"/>
            <a:ext cx="3505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00100" y="1619250"/>
            <a:ext cx="350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Сжать в отрезок [0; 1]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0100" y="2000250"/>
            <a:ext cx="3505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(x − min) / (max − min)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00100" y="2381250"/>
            <a:ext cx="3505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превращается в 0, максимум – в 1.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0100" y="2905125"/>
            <a:ext cx="3505200" cy="619125"/>
          </a:xfrm>
          <a:prstGeom prst="roundRect">
            <a:avLst>
              <a:gd name="adj" fmla="val 9231"/>
            </a:avLst>
          </a:prstGeom>
          <a:solidFill>
            <a:srgbClr val="F2F1E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2905125"/>
            <a:ext cx="32766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Пробник 61: (61 − 35) / (90 − 35) ≈ 0,47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00100" y="3667125"/>
            <a:ext cx="3505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Минус: один выброс сжимает все остальные значения к нулю.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48200" y="1238250"/>
            <a:ext cx="3886200" cy="3143250"/>
          </a:xfrm>
          <a:prstGeom prst="roundRect">
            <a:avLst>
              <a:gd name="adj" fmla="val 2424"/>
            </a:avLst>
          </a:prstGeom>
          <a:solidFill>
            <a:srgbClr val="1C1C2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38700" y="1409700"/>
            <a:ext cx="3505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СТАНДАРТИЗАЦИЯ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838700" y="1619250"/>
            <a:ext cx="350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2F1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 0, разброс 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838700" y="2000250"/>
            <a:ext cx="3505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− μ) / σ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4838700" y="2381250"/>
            <a:ext cx="3505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– среднее, σ = √(сумма (x − μ)² / n) – средний разброс.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38700" y="2905125"/>
            <a:ext cx="3505200" cy="619125"/>
          </a:xfrm>
          <a:prstGeom prst="roundRect">
            <a:avLst>
              <a:gd name="adj" fmla="val 9231"/>
            </a:avLst>
          </a:prstGeom>
          <a:solidFill>
            <a:srgbClr val="2A2A3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953000" y="2905125"/>
            <a:ext cx="32766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2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4, 4, 4, 5, 5, 7, 9: μ = 5, σ = 2. Для x = 9: z = 2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838700" y="3667125"/>
            <a:ext cx="3505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работает StandardScaler из sklearn.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 ДАННЫХ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Сначала делим, потом считаем параметры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238250"/>
            <a:ext cx="5507355" cy="619125"/>
          </a:xfrm>
          <a:prstGeom prst="roundRect">
            <a:avLst>
              <a:gd name="adj" fmla="val 10769"/>
            </a:avLst>
          </a:prstGeom>
          <a:solidFill>
            <a:srgbClr val="1C1C2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2000" y="1333500"/>
            <a:ext cx="52025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Обучающая · 70 %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62000" y="1590675"/>
            <a:ext cx="52025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медиана, границы, min, max, μ, σ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4105" y="1238250"/>
            <a:ext cx="2360295" cy="619125"/>
          </a:xfrm>
          <a:prstGeom prst="roundRect">
            <a:avLst>
              <a:gd name="adj" fmla="val 10769"/>
            </a:avLst>
          </a:prstGeom>
          <a:solidFill>
            <a:srgbClr val="F2F1ED"/>
          </a:solidFill>
          <a:ln w="25400">
            <a:solidFill>
              <a:srgbClr val="B8AB84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326505" y="1333500"/>
            <a:ext cx="205549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Тестовая · 30 %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326505" y="1590675"/>
            <a:ext cx="20554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apply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9600" y="2047875"/>
            <a:ext cx="3886200" cy="223837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0100" y="2219325"/>
            <a:ext cx="304800" cy="304800"/>
          </a:xfrm>
          <a:prstGeom prst="ellipse">
            <a:avLst/>
          </a:prstGeom>
          <a:solidFill>
            <a:srgbClr val="B8AB84"/>
          </a:solidFill>
          <a:ln/>
        </p:spPr>
      </p:sp>
      <p:pic>
        <p:nvPicPr>
          <p:cNvPr id="13" name="Image 0" descr="ic_Warnin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295525"/>
            <a:ext cx="152400" cy="1524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19200" y="2219325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Неправильно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800100" y="2667000"/>
            <a:ext cx="3505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масштаб всей таблицы → деление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00100" y="3238500"/>
            <a:ext cx="35052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«подсмотрели» тест – как контрольная, которую показали заранее. Оценка завышена.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48200" y="2047875"/>
            <a:ext cx="3886200" cy="2238375"/>
          </a:xfrm>
          <a:prstGeom prst="roundRect">
            <a:avLst>
              <a:gd name="adj" fmla="val 3404"/>
            </a:avLst>
          </a:prstGeom>
          <a:solidFill>
            <a:srgbClr val="1C1C22"/>
          </a:solidFill>
          <a:ln/>
        </p:spPr>
      </p:sp>
      <p:sp>
        <p:nvSpPr>
          <p:cNvPr id="18" name="Shape 14"/>
          <p:cNvSpPr/>
          <p:nvPr/>
        </p:nvSpPr>
        <p:spPr>
          <a:xfrm>
            <a:off x="4838700" y="2219325"/>
            <a:ext cx="304800" cy="304800"/>
          </a:xfrm>
          <a:prstGeom prst="ellipse">
            <a:avLst/>
          </a:prstGeom>
          <a:solidFill>
            <a:srgbClr val="B8AB84"/>
          </a:solidFill>
          <a:ln/>
        </p:spPr>
      </p:sp>
      <p:pic>
        <p:nvPicPr>
          <p:cNvPr id="19" name="Image 1" descr="ic_Chec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295525"/>
            <a:ext cx="152400" cy="1524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57800" y="2219325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F1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Правильно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4838700" y="2667000"/>
            <a:ext cx="3505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деление → fit на обучающей → apply к обеим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838700" y="3238500"/>
            <a:ext cx="35052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остается «новыми» данными, оценка честная. В sklearn это fit и transform.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модель – разная подготовка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190625"/>
            <a:ext cx="333375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2000" y="1343025"/>
            <a:ext cx="3028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ЧИСТЫЕ ДАННЫЕ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571625"/>
          <a:ext cx="3181350" cy="2762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4057650" y="1190625"/>
            <a:ext cx="2286000" cy="3238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210050" y="1343025"/>
            <a:ext cx="1981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ГРЯЗНЫЕ ДАННЫЕ</a:t>
            </a:r>
            <a:endParaRPr lang="en-US" sz="9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133850" y="1571625"/>
          <a:ext cx="2133600" cy="2762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6457950" y="1190625"/>
            <a:ext cx="2076450" cy="3238500"/>
          </a:xfrm>
          <a:prstGeom prst="roundRect">
            <a:avLst>
              <a:gd name="adj" fmla="val 3670"/>
            </a:avLst>
          </a:prstGeom>
          <a:solidFill>
            <a:srgbClr val="1C1C2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629400" y="1362075"/>
            <a:ext cx="1733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2F1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kNN, k = 5, датасет Wine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629400" y="1905000"/>
            <a:ext cx="17335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вин, 3 сорта, 13 признаков. Пролин – от 278 до 1680, оттенок – от 0,5 до 1,7.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629400" y="3000375"/>
            <a:ext cx="1733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«Грязные» данные: 5 % значений пропали, 2 % умножены на 10.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629400" y="3905250"/>
            <a:ext cx="1733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П8 и П9 в ноутбуке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vg_sec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0"/>
            <a:ext cx="43815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09600" y="14287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609600" y="2190750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на Python</a:t>
            </a:r>
            <a:endParaRPr lang="en-US" sz="2650" dirty="0"/>
          </a:p>
        </p:txBody>
      </p:sp>
      <p:sp>
        <p:nvSpPr>
          <p:cNvPr id="6" name="Text 2"/>
          <p:cNvSpPr txBox="1"/>
          <p:nvPr/>
        </p:nvSpPr>
        <p:spPr>
          <a:xfrm>
            <a:off x="609600" y="314325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работа: девять заданий, только списки, словари и циклы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ДАННЫХ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– это список словарей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238250"/>
            <a:ext cx="4286250" cy="2857500"/>
          </a:xfrm>
          <a:prstGeom prst="roundRect">
            <a:avLst>
              <a:gd name="adj" fmla="val 2667"/>
            </a:avLst>
          </a:prstGeom>
          <a:solidFill>
            <a:srgbClr val="1C1C2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9150" y="1428750"/>
            <a:ext cx="3952875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[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{'часы': 1, 'сон': 8, 'пробник': 35,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'профиль': 'физмат', 'сдал': 0},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{'часы':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'сон': 7, ...},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пропуск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column(raw, 'сон')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столбец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[8, 6, 7, 9, 50, 6, 8,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...]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124450" y="1285875"/>
            <a:ext cx="266700" cy="2667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124450" y="128587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505450" y="1276350"/>
            <a:ext cx="3028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Строка – словарь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505450" y="1504950"/>
            <a:ext cx="3028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→ значение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4450" y="1990725"/>
            <a:ext cx="266700" cy="2667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24450" y="199072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505450" y="1981200"/>
            <a:ext cx="3028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Пропуск – None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505450" y="2209800"/>
            <a:ext cx="3028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видит функция count_missing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24450" y="2695575"/>
            <a:ext cx="266700" cy="2667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124450" y="269557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505450" y="2686050"/>
            <a:ext cx="3028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Столбец – список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505450" y="2914650"/>
            <a:ext cx="3028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все функции работают со столбцами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124450" y="3400425"/>
            <a:ext cx="266700" cy="2667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24450" y="3400425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505450" y="3390900"/>
            <a:ext cx="3028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Новое вместо старого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505450" y="3619500"/>
            <a:ext cx="3028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не меняют исходную таблицу, а возвращают новую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Девять заданий – один конвейер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09600" y="1219200"/>
            <a:ext cx="2578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3900" y="1485900"/>
            <a:ext cx="304800" cy="3048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23900" y="1485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П1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23950" y="1352550"/>
            <a:ext cx="1958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count_missing, unique_values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23950" y="1752600"/>
            <a:ext cx="195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осмотр данных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82950" y="1219200"/>
            <a:ext cx="2578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97250" y="1485900"/>
            <a:ext cx="304800" cy="3048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97250" y="1485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П2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3797300" y="1352550"/>
            <a:ext cx="1958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remove_duplicates, clean_category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3797300" y="1752600"/>
            <a:ext cx="195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дубликаты и разнобой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56300" y="1219200"/>
            <a:ext cx="2578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70600" y="1485900"/>
            <a:ext cx="304800" cy="3048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70600" y="1485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П3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70650" y="1352550"/>
            <a:ext cx="1958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mean, median, mode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470650" y="1752600"/>
            <a:ext cx="195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величины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9600" y="2152650"/>
            <a:ext cx="2578100" cy="838200"/>
          </a:xfrm>
          <a:prstGeom prst="roundRect">
            <a:avLst>
              <a:gd name="adj" fmla="val 9091"/>
            </a:avLst>
          </a:prstGeom>
          <a:solidFill>
            <a:srgbClr val="1C1C22"/>
          </a:solidFill>
          <a:ln/>
        </p:spPr>
      </p:sp>
      <p:sp>
        <p:nvSpPr>
          <p:cNvPr id="21" name="Shape 18"/>
          <p:cNvSpPr/>
          <p:nvPr/>
        </p:nvSpPr>
        <p:spPr>
          <a:xfrm>
            <a:off x="723900" y="2419350"/>
            <a:ext cx="304800" cy="304800"/>
          </a:xfrm>
          <a:prstGeom prst="ellipse">
            <a:avLst/>
          </a:prstGeom>
          <a:solidFill>
            <a:srgbClr val="B8AB8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23900" y="24193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П4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123950" y="2286000"/>
            <a:ext cx="1958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quantile, iqr_bounds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123950" y="2686050"/>
            <a:ext cx="195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выбросы по квартилям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82950" y="2152650"/>
            <a:ext cx="2578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97250" y="2419350"/>
            <a:ext cx="304800" cy="3048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397250" y="24193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П5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3797300" y="2286000"/>
            <a:ext cx="1958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fill_missing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3797300" y="2686050"/>
            <a:ext cx="195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заполнение пропусков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956300" y="2152650"/>
            <a:ext cx="2578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70600" y="2419350"/>
            <a:ext cx="304800" cy="3048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070600" y="24193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П6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470650" y="2286000"/>
            <a:ext cx="1958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label_encode, one_hot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470650" y="2686050"/>
            <a:ext cx="195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 категорий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09600" y="3086100"/>
            <a:ext cx="2578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23900" y="3352800"/>
            <a:ext cx="304800" cy="3048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23900" y="33528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П7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1123950" y="3219450"/>
            <a:ext cx="1958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train_test_split, fit / apply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1123950" y="3619500"/>
            <a:ext cx="195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и масштаб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3282950" y="3086100"/>
            <a:ext cx="25781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397250" y="3352800"/>
            <a:ext cx="304800" cy="304800"/>
          </a:xfrm>
          <a:prstGeom prst="ellipse">
            <a:avLst/>
          </a:prstGeom>
          <a:solidFill>
            <a:srgbClr val="1C1C2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397250" y="33528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П8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3797300" y="3219450"/>
            <a:ext cx="1958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scale_columns + kNN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3797300" y="3619500"/>
            <a:ext cx="195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на Wine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956300" y="3086100"/>
            <a:ext cx="2578100" cy="838200"/>
          </a:xfrm>
          <a:prstGeom prst="roundRect">
            <a:avLst>
              <a:gd name="adj" fmla="val 9091"/>
            </a:avLst>
          </a:prstGeom>
          <a:solidFill>
            <a:srgbClr val="1C1C22"/>
          </a:solidFill>
          <a:ln/>
        </p:spPr>
      </p:sp>
      <p:sp>
        <p:nvSpPr>
          <p:cNvPr id="46" name="Shape 43"/>
          <p:cNvSpPr/>
          <p:nvPr/>
        </p:nvSpPr>
        <p:spPr>
          <a:xfrm>
            <a:off x="6070600" y="3352800"/>
            <a:ext cx="304800" cy="304800"/>
          </a:xfrm>
          <a:prstGeom prst="ellipse">
            <a:avLst/>
          </a:prstGeom>
          <a:solidFill>
            <a:srgbClr val="B8AB84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070600" y="33528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П9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6470650" y="3219450"/>
            <a:ext cx="1958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470650" y="3619500"/>
            <a:ext cx="195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конвейер на «грязном» Wine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609600" y="4048125"/>
            <a:ext cx="792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каждой функции – строка «ожидается»: сверьте числа с доской. Внутри функций – только списки, словари, циклы, math и random.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43815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ЗАНЯТИЯ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609600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1285875"/>
            <a:ext cx="952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1562100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учится на данных: мусор на входе – мусор на выходе.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1285875"/>
            <a:ext cx="952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1562100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Порядок: осмотр, дубликаты, выбросы, пропуски, кодирование, деление, масштаб.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2333625"/>
            <a:ext cx="952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2609850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устойчива к выбросам, среднее – нет.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2333625"/>
            <a:ext cx="952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609850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 – за пределами Q1 − 1,5·IQR … Q3 + 1,5·IQR.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09600" y="3381375"/>
            <a:ext cx="952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09600" y="3657600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– через one-hot, числа – к одному масштабу.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3381375"/>
            <a:ext cx="952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3657600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считаем только по обучающей выборке.</a:t>
            </a:r>
            <a:endParaRPr lang="en-US" sz="1150" dirty="0"/>
          </a:p>
        </p:txBody>
      </p:sp>
      <p:pic>
        <p:nvPicPr>
          <p:cNvPr id="17" name="Image 0" descr="svg_summary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0" y="1238250"/>
            <a:ext cx="2667000" cy="30480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09600" y="4781550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Подготовка данных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962900" y="47815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Подготовка данных</dc:title>
  <dc:subject>PptxGenJS Presentation</dc:subject>
  <dc:creator>PptxGenJS</dc:creator>
  <cp:lastModifiedBy>PptxGenJS</cp:lastModifiedBy>
  <cp:revision>1</cp:revision>
  <dcterms:created xsi:type="dcterms:W3CDTF">2026-09-23T11:10:04Z</dcterms:created>
  <dcterms:modified xsi:type="dcterms:W3CDTF">2026-09-23T11:10:04Z</dcterms:modified>
</cp:coreProperties>
</file>